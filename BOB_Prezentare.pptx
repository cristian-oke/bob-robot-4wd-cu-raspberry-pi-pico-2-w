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0" y="2560320"/>
            <a:ext cx="85039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D2FF"/>
                </a:solidFill>
                <a:latin typeface="Segoe UI" panose="020B0502040204020203"/>
              </a:defRPr>
            </a:pPr>
            <a:r>
              <a:t>BOB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 panose="020B0502040204020203"/>
              </a:defRPr>
            </a:pPr>
            <a:r>
              <a:t>Robot 4WD cu Raspberry Pi Pico 2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50392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2000" b="0">
                <a:solidFill>
                  <a:srgbClr val="BBBBBB"/>
                </a:solidFill>
                <a:latin typeface="Segoe UI" panose="020B0502040204020203"/>
              </a:defRPr>
            </a:pPr>
            <a:r>
              <a:rPr err="1"/>
              <a:t>Sisteme</a:t>
            </a:r>
            <a:r>
              <a:rPr dirty="0"/>
              <a:t> cu </a:t>
            </a:r>
            <a:r>
              <a:t>Microprocesoare</a:t>
            </a:r>
            <a:endParaRPr lang="ro-RO" dirty="0"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56075" y="3608070"/>
            <a:ext cx="3659505" cy="7810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ctr">
              <a:defRPr sz="1800" b="0">
                <a:solidFill>
                  <a:srgbClr val="00D2FF"/>
                </a:solidFill>
                <a:latin typeface="Segoe UI" panose="020B0502040204020203"/>
              </a:defRPr>
            </a:pPr>
            <a:r>
              <a:rPr lang="ro-RO"/>
              <a:t>  </a:t>
            </a:r>
            <a:r>
              <a:rPr lang="ro-RO" dirty="0"/>
              <a:t> </a:t>
            </a:r>
            <a:r>
              <a:rPr dirty="0"/>
              <a:t> Burlacu Cristian</a:t>
            </a:r>
            <a:r>
              <a:rPr lang="ro-RO" dirty="0"/>
              <a:t>-</a:t>
            </a:r>
            <a:r>
              <a:rPr dirty="0"/>
              <a:t>Ștefan </a:t>
            </a:r>
            <a:r>
              <a:rPr lang="ro-RO" dirty="0"/>
              <a:t> </a:t>
            </a:r>
            <a:endParaRPr lang="ro-RO" dirty="0">
              <a:cs typeface="Segoe UI" panose="020B0502040204020203"/>
            </a:endParaRPr>
          </a:p>
          <a:p>
            <a:pPr algn="ctr">
              <a:defRPr sz="1800" b="0">
                <a:solidFill>
                  <a:srgbClr val="00D2FF"/>
                </a:solidFill>
                <a:latin typeface="Segoe UI" panose="020B0502040204020203"/>
              </a:defRPr>
            </a:pPr>
            <a:r>
              <a:rPr lang="ro-RO" dirty="0"/>
              <a:t> </a:t>
            </a:r>
            <a:r>
              <a:t> </a:t>
            </a:r>
            <a:endParaRPr lang="ro-RO" dirty="0"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Segoe UI" panose="020B0502040204020203"/>
              </a:defRPr>
            </a:pPr>
            <a:r>
              <a:t>1. Descriere Generală</a:t>
            </a:r>
          </a:p>
        </p:txBody>
      </p:sp>
      <p:sp>
        <p:nvSpPr>
          <p:cNvPr id="3" name="Rectangle 2"/>
          <p:cNvSpPr/>
          <p:nvPr/>
        </p:nvSpPr>
        <p:spPr>
          <a:xfrm>
            <a:off x="1395095" y="1005840"/>
            <a:ext cx="4004945" cy="76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5029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 panose="020B0502040204020203"/>
              </a:defRPr>
            </a:pPr>
            <a:r>
              <a:t>BOB este un robot mobil cu tracțiune integrală (4WD) construit pe platforma Raspberry Pi Pico 2 W. Scopul proiectului a fost dezvoltarea unui sistem autonom și controlabil de la distanță.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00"/>
                </a:solidFill>
                <a:latin typeface="Segoe UI" panose="020B0502040204020203"/>
              </a:defRPr>
            </a:pPr>
            <a:r>
              <a:t>Capabilități principale: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▸  Control manual prin Bluetooth Low Energy (BLE) — aplicația Serial Bluetooth Terminal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▸  Evitare inteligentă a obstacolelor folosind 3 senzori ultrasonici HC-SR04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▸  Mod Follow-Me (Distance-Lock Tracking) — robotul urmărește utilizatorul automat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▸  Control prin Joystick Virtual pe o interfață Web (Wi-Fi AP + WebSocket)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▸  Feedback sonor continuu (melodie Jingle Bells redată cu timere hardware)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▸  Semnalizare vizuală prin 3 LED-uri de stare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Segoe UI" panose="020B0502040204020203"/>
              </a:defRPr>
            </a:pPr>
            <a:r>
              <a:t>2. Cerințe Funcționale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7305" y="1005840"/>
            <a:ext cx="4189095" cy="76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5029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600"/>
                </a:solidFill>
                <a:latin typeface="Segoe UI" panose="020B0502040204020203"/>
              </a:defRPr>
            </a:pPr>
            <a:r>
              <a:t>Cerințe Funcționale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▸  Control manual w/a/s/d prin BLE UART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▸  Evitare automată obstacole (3 senzori)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▸  Mod Follow-Me cu menținere distanță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▸  Wi-Fi AP + Joystick Virtual WebSocket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▸  Feedback sonor (buzzer, timere HW)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▸  Semnalizare vizuală (3 LED-uri status)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Segoe UI" panose="020B0502040204020203"/>
              </a:defRPr>
            </a:pPr>
            <a:r>
              <a:t>Cerințe Non-Funcționale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  <a:latin typeface="Segoe UI" panose="020B0502040204020203"/>
              </a:defRPr>
            </a:pPr>
            <a:r>
              <a:t>▸  Latență redusă (servere în interrupt context)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  <a:latin typeface="Segoe UI" panose="020B0502040204020203"/>
              </a:defRPr>
            </a:pPr>
            <a:r>
              <a:t>▸  Senzori pe Core 1 (non-blocant pentru FSM)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  <a:latin typeface="Segoe UI" panose="020B0502040204020203"/>
              </a:defRPr>
            </a:pPr>
            <a:r>
              <a:t>▸  PWM diferențial la 1 kHz (mișcări fluide)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  <a:latin typeface="Segoe UI" panose="020B0502040204020203"/>
              </a:defRPr>
            </a:pPr>
            <a:r>
              <a:t>▸  Pauză 20ms inter-senzor (anti cross-talk)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Segoe UI" panose="020B0502040204020203"/>
              </a:defRPr>
            </a:pPr>
            <a:r>
              <a:t>3. Componente Hardware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62710" y="1016635"/>
            <a:ext cx="4964430" cy="76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Segoe UI" panose="020B0502040204020203"/>
              </a:defRPr>
            </a:pPr>
            <a:r>
              <a:t>Raspberry Pi</a:t>
            </a:r>
            <a:br/>
            <a:r>
              <a:t>Pico 2 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Segoe UI" panose="020B0502040204020203"/>
              </a:defRPr>
            </a:pPr>
            <a:r>
              <a:t>Dual-core ARM</a:t>
            </a:r>
            <a:br/>
            <a:r>
              <a:t>Cortex-M33</a:t>
            </a:r>
            <a:br/>
            <a:r>
              <a:t>150 MHz</a:t>
            </a:r>
            <a:br/>
            <a:r>
              <a:t>Wi-Fi + 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371600"/>
            <a:ext cx="347472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508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Segoe UI" panose="020B0502040204020203"/>
              </a:defRPr>
            </a:pPr>
            <a:r>
              <a:t>Driver</a:t>
            </a:r>
            <a:br/>
            <a:r>
              <a:t>L298N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194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Segoe UI" panose="020B0502040204020203"/>
              </a:defRPr>
            </a:pPr>
            <a:r>
              <a:t>Dual H-Bridge</a:t>
            </a:r>
            <a:br/>
            <a:r>
              <a:t>2A per canal</a:t>
            </a:r>
            <a:br/>
            <a:r>
              <a:t>Control direcție</a:t>
            </a:r>
            <a:br/>
            <a:r>
              <a:t>+ viteză PWM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371600"/>
            <a:ext cx="347472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9" y="1508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Segoe UI" panose="020B0502040204020203"/>
              </a:defRPr>
            </a:pPr>
            <a:r>
              <a:t>3x HC-SR04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9" y="2194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Segoe UI" panose="020B0502040204020203"/>
              </a:defRPr>
            </a:pPr>
            <a:r>
              <a:t>Senzori</a:t>
            </a:r>
            <a:br/>
            <a:r>
              <a:t>Ultrasonici</a:t>
            </a:r>
            <a:br/>
            <a:r>
              <a:t>2–400 cm</a:t>
            </a:r>
            <a:br/>
            <a:r>
              <a:t>Alimentare 3.3V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347472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Segoe UI" panose="020B0502040204020203"/>
              </a:defRPr>
            </a:pPr>
            <a:r>
              <a:t>4x Motoare</a:t>
            </a:r>
            <a:br/>
            <a:r>
              <a:t>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Segoe UI" panose="020B0502040204020203"/>
              </a:defRPr>
            </a:pPr>
            <a:r>
              <a:t>Cu reductor</a:t>
            </a:r>
            <a:br/>
            <a:r>
              <a:t>Controlate prin</a:t>
            </a:r>
            <a:br/>
            <a:r>
              <a:t>L298N</a:t>
            </a:r>
            <a:br/>
            <a:r>
              <a:t>(2 stânga, 2 dreapta)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3931920"/>
            <a:ext cx="347472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4069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Segoe UI" panose="020B0502040204020203"/>
              </a:defRPr>
            </a:pPr>
            <a:r>
              <a:t>Buzzer</a:t>
            </a:r>
            <a:br/>
            <a:r>
              <a:t>Pasiv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4754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Segoe UI" panose="020B0502040204020203"/>
              </a:defRPr>
            </a:pPr>
            <a:r>
              <a:t>Feedback sonor</a:t>
            </a:r>
            <a:br/>
            <a:r>
              <a:t>PWM pe GP13</a:t>
            </a:r>
            <a:br/>
            <a:r>
              <a:t>Melodie</a:t>
            </a:r>
            <a:br/>
            <a:r>
              <a:t>Jingle Bells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931920"/>
            <a:ext cx="347472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9" y="4069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Segoe UI" panose="020B0502040204020203"/>
              </a:defRPr>
            </a:pPr>
            <a:r>
              <a:t>3x LED-uri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4754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Segoe UI" panose="020B0502040204020203"/>
              </a:defRPr>
            </a:pPr>
            <a:r>
              <a:t>Semnalizare</a:t>
            </a:r>
            <a:br/>
            <a:r>
              <a:t>direcție evitare</a:t>
            </a:r>
            <a:br/>
            <a:r>
              <a:t>GP7, GP9, GP11</a:t>
            </a:r>
            <a:br/>
            <a:r>
              <a:t>(pini parțiali)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Segoe UI" panose="020B0502040204020203"/>
              </a:defRPr>
            </a:pPr>
            <a:r>
              <a:t>4. Conexiuni Hardware — Mapare GPIO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41120" y="1005840"/>
            <a:ext cx="7967980" cy="76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5029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600"/>
                </a:solidFill>
                <a:latin typeface="Segoe UI" panose="020B0502040204020203"/>
              </a:defRPr>
            </a:pPr>
            <a:r>
              <a:t>Driver L298N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IN1 ← GP2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IN2 ← GP3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IN3 ← GP4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IN4 ← GP5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ENA ← GP14 (PWM7A)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ENB ← GP15 (PWM7B)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5029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600"/>
                </a:solidFill>
                <a:latin typeface="Segoe UI" panose="020B0502040204020203"/>
              </a:defRPr>
            </a:pPr>
            <a:r>
              <a:t>Senzori HC-SR04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TRIG Stg ← GP16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ECHO Stg → GP6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TRIG Ctr ← GP17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ECHO Ctr → GP8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TRIG Dr ← GP18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ECHO Dr → GP10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VCC ← 3.3V (Pin 36)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74720" cy="5029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600"/>
                </a:solidFill>
                <a:latin typeface="Segoe UI" panose="020B0502040204020203"/>
              </a:defRPr>
            </a:pPr>
            <a:r>
              <a:t>LED-uri &amp; Buzzer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LED Stânga ← GP7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LED Centru ← GP9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LED Dreapta ← GP11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Buzzer ← GP13 (PWM6B)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Alimentare Pico: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Segoe UI" panose="020B0502040204020203"/>
              </a:defRPr>
            </a:pPr>
            <a:r>
              <a:t>▸  VSYS ← 5V (din L298N)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Segoe UI" panose="020B0502040204020203"/>
              </a:defRPr>
            </a:pPr>
            <a:r>
              <a:t>5. Arhitectură Software — Multi-Core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05840"/>
            <a:ext cx="7456805" cy="76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5029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Segoe UI" panose="020B0502040204020203"/>
              </a:defRPr>
            </a:pPr>
            <a:r>
              <a:t>Core 0 — Control &amp; Comunicație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▸  Mașina de Stări (FSM) — buclă principală ~100 Hz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▸  BLE Server (BTstack) — primire comenzi UART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▸  Wi-Fi AP + HTTP Server — servire pagină web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▸  WebSocket Server — date joystick în timp real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▸  Calcul PWM diferențial pentru motoare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▸  Logica Follow-Me (dead-band 15 cm)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▸  Logica evitare obstacole (cel mai liber traseu)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Segoe UI" panose="020B0502040204020203"/>
              </a:defRPr>
            </a:pPr>
            <a:r>
              <a:t>Core 1 — Achiziție Senzori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  <a:latin typeface="Segoe UI" panose="020B0502040204020203"/>
              </a:defRPr>
            </a:pPr>
            <a:r>
              <a:t>▸  Buclă infinită de citire senzori HC-SR04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  <a:latin typeface="Segoe UI" panose="020B0502040204020203"/>
              </a:defRPr>
            </a:pPr>
            <a:r>
              <a:t>▸  Măsurări secvențiale (stânga → centru → dreapta)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  <a:latin typeface="Segoe UI" panose="020B0502040204020203"/>
              </a:defRPr>
            </a:pPr>
            <a:r>
              <a:t>▸  Pauză 20ms între citiri (anti cross-talk acustic)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  <a:latin typeface="Segoe UI" panose="020B0502040204020203"/>
              </a:defRPr>
            </a:pPr>
            <a:r>
              <a:t>▸  Scriere în variabile partajate (g_dist_left/center/right)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  <a:latin typeface="Segoe UI" panose="020B0502040204020203"/>
              </a:defRPr>
            </a:pPr>
            <a:r>
              <a:t>▸  Protecție prin Mutex (g_sensor_mutex)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  <a:latin typeface="Segoe UI" panose="020B0502040204020203"/>
              </a:defRPr>
            </a:pPr>
            <a:r>
              <a:t>▸  Control LED-uri de semnalizare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  <a:latin typeface="Segoe UI" panose="020B0502040204020203"/>
              </a:defRPr>
            </a:pPr>
            <a:r>
              <a:t>▸  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  <a:latin typeface="Segoe UI" panose="020B0502040204020203"/>
              </a:defRPr>
            </a:pPr>
            <a:r>
              <a:t>▸  Comunicare inter-core: thread-safe prin mutex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Segoe UI" panose="020B0502040204020203"/>
              </a:defRPr>
            </a:pPr>
            <a:r>
              <a:t>6. Module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417320" y="995045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Segoe UI" panose="020B0502040204020203"/>
              </a:defRPr>
            </a:pPr>
            <a:r>
              <a:t>BOB_CAR.c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 panose="020B0502040204020203"/>
              </a:defRPr>
            </a:pPr>
            <a:r>
              <a:t>Main + FSM + init multi-core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Segoe UI" panose="020B0502040204020203"/>
              </a:defRPr>
            </a:pPr>
            <a:r>
              <a:t>motors.c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 panose="020B0502040204020203"/>
              </a:defRPr>
            </a:pPr>
            <a:r>
              <a:t>Control PWM motoare (1 kHz)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539496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Segoe UI" panose="020B0502040204020203"/>
              </a:defRPr>
            </a:pPr>
            <a:r>
              <a:t>sensors.c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 panose="020B0502040204020203"/>
              </a:defRPr>
            </a:pPr>
            <a:r>
              <a:t>Citire HC-SR04 pe Core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51760"/>
            <a:ext cx="539496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Segoe UI" panose="020B0502040204020203"/>
              </a:defRPr>
            </a:pPr>
            <a:r>
              <a:t>ble_uart.c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 panose="020B0502040204020203"/>
              </a:defRPr>
            </a:pPr>
            <a:r>
              <a:t>Server BLE (Nordic UART / BTstack)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539496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Segoe UI" panose="020B0502040204020203"/>
              </a:defRPr>
            </a:pPr>
            <a:r>
              <a:t>wifi_server.c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 panose="020B0502040204020203"/>
              </a:defRPr>
            </a:pPr>
            <a:r>
              <a:t>Wi-Fi AP + HTTP + WebSocket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39496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00"/>
                </a:solidFill>
                <a:latin typeface="Segoe UI" panose="020B0502040204020203"/>
              </a:defRPr>
            </a:pPr>
            <a:r>
              <a:t>obstacle.c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80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 panose="020B0502040204020203"/>
              </a:defRPr>
            </a:pPr>
            <a:r>
              <a:t>Algoritm evitare obstacole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12079"/>
            <a:ext cx="539496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03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00"/>
                </a:solidFill>
                <a:latin typeface="Segoe UI" panose="020B0502040204020203"/>
              </a:defRPr>
            </a:pPr>
            <a:r>
              <a:t>follow_me.c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6071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 panose="020B0502040204020203"/>
              </a:defRPr>
            </a:pPr>
            <a:r>
              <a:t>Algoritm Follow-Me (dead-band)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212079"/>
            <a:ext cx="539496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5303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Segoe UI" panose="020B0502040204020203"/>
              </a:defRPr>
            </a:pPr>
            <a:r>
              <a:t>buzzer.c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76071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 panose="020B0502040204020203"/>
              </a:defRPr>
            </a:pPr>
            <a:r>
              <a:t>Melodie non-blocantă (timere HW)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Segoe UI" panose="020B0502040204020203"/>
              </a:defRPr>
            </a:pPr>
            <a:r>
              <a:t>7. Scenarii de Testare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95730" y="1005840"/>
            <a:ext cx="3962400" cy="76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5029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600"/>
                </a:solidFill>
                <a:latin typeface="Segoe UI" panose="020B0502040204020203"/>
              </a:defRPr>
            </a:pPr>
            <a:r>
              <a:t>Scenariu 1</a:t>
            </a:r>
            <a:br/>
            <a:r>
              <a:t>Evitare Obstacole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Segoe UI" panose="020B0502040204020203"/>
              </a:defRPr>
            </a:pPr>
            <a:r>
              <a:t>▸  Mod manual via BLE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Segoe UI" panose="020B0502040204020203"/>
              </a:defRPr>
            </a:pPr>
            <a:r>
              <a:t>▸  Comandă continuă 'w'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Segoe UI" panose="020B0502040204020203"/>
              </a:defRPr>
            </a:pPr>
            <a:r>
              <a:t>▸  Obstacol plasat în față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Segoe UI" panose="020B0502040204020203"/>
              </a:defRPr>
            </a:pPr>
            <a:r>
              <a:t>▸  Frânare automată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Segoe UI" panose="020B0502040204020203"/>
              </a:defRPr>
            </a:pPr>
            <a:r>
              <a:t>▸  Analiză senzori (cel mai liber)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Segoe UI" panose="020B0502040204020203"/>
              </a:defRPr>
            </a:pPr>
            <a:r>
              <a:t>▸  Pivotare + LED semnalizare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5029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08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600"/>
                </a:solidFill>
                <a:latin typeface="Segoe UI" panose="020B0502040204020203"/>
              </a:defRPr>
            </a:pPr>
            <a:r>
              <a:t>Scenariu 2</a:t>
            </a:r>
            <a:br/>
            <a:r>
              <a:t>Follow-Me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Segoe UI" panose="020B0502040204020203"/>
              </a:defRPr>
            </a:pPr>
            <a:r>
              <a:t>▸  Activare cu comanda 'f'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Segoe UI" panose="020B0502040204020203"/>
              </a:defRPr>
            </a:pPr>
            <a:r>
              <a:t>▸  Așteptare target (65–150 cm)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Segoe UI" panose="020B0502040204020203"/>
              </a:defRPr>
            </a:pPr>
            <a:r>
              <a:t>▸  Lock pe obiect (utilizator)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Segoe UI" panose="020B0502040204020203"/>
              </a:defRPr>
            </a:pPr>
            <a:r>
              <a:t>▸  Ajustare PWM stânga/dreapta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Segoe UI" panose="020B0502040204020203"/>
              </a:defRPr>
            </a:pPr>
            <a:r>
              <a:t>▸  Dead-band 15 cm lateral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Segoe UI" panose="020B0502040204020203"/>
              </a:defRPr>
            </a:pPr>
            <a:r>
              <a:t>▸  Oprire la &lt; 65 cm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74720" cy="5029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08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600"/>
                </a:solidFill>
                <a:latin typeface="Segoe UI" panose="020B0502040204020203"/>
              </a:defRPr>
            </a:pPr>
            <a:r>
              <a:t>Scenariu 3</a:t>
            </a:r>
            <a:br/>
            <a:r>
              <a:t>Joystick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3108960" cy="16773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Segoe UI" panose="020B0502040204020203"/>
              </a:defRPr>
            </a:pPr>
            <a:r>
              <a:rPr dirty="0"/>
              <a:t>▸  </a:t>
            </a:r>
            <a:r>
              <a:rPr dirty="0" err="1"/>
              <a:t>Activare</a:t>
            </a:r>
            <a:r>
              <a:rPr dirty="0"/>
              <a:t> cu </a:t>
            </a:r>
            <a:r>
              <a:rPr dirty="0" err="1"/>
              <a:t>comanda</a:t>
            </a:r>
            <a:r>
              <a:rPr dirty="0"/>
              <a:t> 'g'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Segoe UI" panose="020B0502040204020203"/>
              </a:defRPr>
            </a:pPr>
            <a:r>
              <a:rPr dirty="0"/>
              <a:t>▸  </a:t>
            </a:r>
            <a:r>
              <a:rPr dirty="0" err="1"/>
              <a:t>Conectare</a:t>
            </a:r>
            <a:r>
              <a:rPr dirty="0"/>
              <a:t> la 'BOB-</a:t>
            </a:r>
            <a:r>
              <a:rPr dirty="0" err="1"/>
              <a:t>WiFi</a:t>
            </a:r>
            <a:r>
              <a:rPr dirty="0"/>
              <a:t>'</a:t>
            </a:r>
            <a:endParaRPr dirty="0">
              <a:cs typeface="Segoe UI" panose="020B0502040204020203"/>
            </a:endParaRP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Segoe UI" panose="020B0502040204020203"/>
              </a:defRPr>
            </a:pPr>
            <a:r>
              <a:rPr dirty="0"/>
              <a:t>▸  </a:t>
            </a:r>
            <a:r>
              <a:rPr dirty="0" err="1"/>
              <a:t>Deschidere</a:t>
            </a:r>
            <a:r>
              <a:rPr dirty="0"/>
              <a:t> 192.168.4.1</a:t>
            </a:r>
            <a:endParaRPr dirty="0">
              <a:cs typeface="Segoe UI" panose="020B0502040204020203"/>
            </a:endParaRP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Segoe UI" panose="020B0502040204020203"/>
              </a:defRPr>
            </a:pPr>
            <a:r>
              <a:rPr dirty="0"/>
              <a:t>▸  Control joystick </a:t>
            </a:r>
            <a:r>
              <a:rPr dirty="0" err="1"/>
              <a:t>tactil</a:t>
            </a:r>
            <a:endParaRPr dirty="0" err="1">
              <a:cs typeface="Segoe UI" panose="020B0502040204020203"/>
            </a:endParaRP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Segoe UI" panose="020B0502040204020203"/>
              </a:defRPr>
            </a:pPr>
            <a:r>
              <a:rPr dirty="0"/>
              <a:t>▸  </a:t>
            </a:r>
            <a:r>
              <a:rPr dirty="0" err="1"/>
              <a:t>Traducere</a:t>
            </a:r>
            <a:r>
              <a:rPr dirty="0"/>
              <a:t> WebSocket → PWM</a:t>
            </a:r>
            <a:endParaRPr dirty="0">
              <a:cs typeface="Segoe UI" panose="020B0502040204020203"/>
            </a:endParaRP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Segoe UI" panose="020B0502040204020203"/>
              </a:defRPr>
            </a:pPr>
            <a:r>
              <a:rPr dirty="0"/>
              <a:t>▸  </a:t>
            </a:r>
            <a:r>
              <a:rPr dirty="0" err="1"/>
              <a:t>Oprire</a:t>
            </a:r>
            <a:r>
              <a:rPr dirty="0"/>
              <a:t> la </a:t>
            </a:r>
            <a:r>
              <a:rPr dirty="0" err="1"/>
              <a:t>ridicare</a:t>
            </a:r>
            <a:r>
              <a:rPr dirty="0"/>
              <a:t> </a:t>
            </a:r>
            <a:r>
              <a:rPr dirty="0" err="1"/>
              <a:t>deget</a:t>
            </a:r>
            <a:endParaRPr dirty="0" err="1"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Segoe UI" panose="020B0502040204020203"/>
              </a:defRPr>
            </a:pPr>
            <a:r>
              <a:t>8. Diagrame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38580" y="1005840"/>
            <a:ext cx="2123440" cy="76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5029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4572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 panose="020B0502040204020203"/>
              </a:defRPr>
            </a:pPr>
            <a:r>
              <a:rPr dirty="0"/>
              <a:t>[</a:t>
            </a:r>
            <a:r>
              <a:rPr dirty="0" err="1"/>
              <a:t>Inserează</a:t>
            </a:r>
            <a:r>
              <a:rPr dirty="0"/>
              <a:t> Bloc Hardware </a:t>
            </a:r>
            <a:r>
              <a:rPr dirty="0" err="1"/>
              <a:t>aici</a:t>
            </a:r>
            <a:r>
              <a:rPr dirty="0"/>
              <a:t>]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600"/>
                </a:solidFill>
                <a:latin typeface="Segoe UI" panose="020B0502040204020203"/>
              </a:defRPr>
            </a:pPr>
            <a:r>
              <a:t>Diagrama Bloc Hardware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600"/>
                </a:solidFill>
                <a:latin typeface="Segoe UI" panose="020B0502040204020203"/>
              </a:defRPr>
            </a:pPr>
            <a:r>
              <a:t>Schema Electrică</a:t>
            </a:r>
          </a:p>
        </p:txBody>
      </p:sp>
      <p:pic>
        <p:nvPicPr>
          <p:cNvPr id="10" name="Imagine 9" descr="O imagine care conține text, diagramă, captură de ecran, Plan&#10;&#10;Conținutul generat de inteligența artificială poate fi inco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947" y="2030262"/>
            <a:ext cx="5285656" cy="3847023"/>
          </a:xfrm>
          <a:prstGeom prst="rect">
            <a:avLst/>
          </a:prstGeom>
        </p:spPr>
      </p:pic>
      <p:pic>
        <p:nvPicPr>
          <p:cNvPr id="11" name="Imagine 10" descr="O imagine care conține text, diagramă, Font, linie&#10;&#10;Conținutul generat de inteligența artificială poate fi inco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625" y="2030263"/>
            <a:ext cx="5300034" cy="37751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3784</Words>
  <Application>WPS Presentation</Application>
  <PresentationFormat>Ecran lat</PresentationFormat>
  <Paragraphs>191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Arial</vt:lpstr>
      <vt:lpstr>Segoe UI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Cristian Burlacu</cp:lastModifiedBy>
  <cp:revision>30</cp:revision>
  <dcterms:created xsi:type="dcterms:W3CDTF">2013-01-27T09:14:00Z</dcterms:created>
  <dcterms:modified xsi:type="dcterms:W3CDTF">2026-08-17T10:47:09Z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0D1B96F4036F412B8C28F451287FE8BA_12</vt:lpwstr>
  </property>
  <property fmtid="{D5CDD505-2E9C-101B-9397-08002B2CF9AE}" pid="3" name="KSOProductBuildVer">
    <vt:lpwstr>1033-12.1.0.28032</vt:lpwstr>
  </property>
</Properties>
</file>